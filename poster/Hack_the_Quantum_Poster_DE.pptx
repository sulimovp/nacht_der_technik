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A18E"/>
    <a:srgbClr val="00795D"/>
    <a:srgbClr val="FFDC0C"/>
    <a:srgbClr val="A3D045"/>
    <a:srgbClr val="FFA70E"/>
    <a:srgbClr val="05366C"/>
    <a:srgbClr val="113059"/>
    <a:srgbClr val="8FC45F"/>
    <a:srgbClr val="CBCC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89"/>
  </p:normalViewPr>
  <p:slideViewPr>
    <p:cSldViewPr snapToGrid="0" showGuides="1">
      <p:cViewPr varScale="1">
        <p:scale>
          <a:sx n="23" d="100"/>
          <a:sy n="23" d="100"/>
        </p:scale>
        <p:origin x="321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E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65280-A5D1-B44D-BF76-717E7F04FA7C}" type="datetimeFigureOut">
              <a:rPr lang="de-ES" smtClean="0"/>
              <a:t>06/02/2026</a:t>
            </a:fld>
            <a:endParaRPr lang="de-E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E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E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E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FC8FA-C205-8C4D-BABA-5DEF8A02357D}" type="slidenum">
              <a:rPr lang="de-ES" smtClean="0"/>
              <a:t>‹Nr.›</a:t>
            </a:fld>
            <a:endParaRPr lang="de-ES"/>
          </a:p>
        </p:txBody>
      </p:sp>
    </p:spTree>
    <p:extLst>
      <p:ext uri="{BB962C8B-B14F-4D97-AF65-F5344CB8AC3E}">
        <p14:creationId xmlns:p14="http://schemas.microsoft.com/office/powerpoint/2010/main" val="25659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E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FC8FA-C205-8C4D-BABA-5DEF8A02357D}" type="slidenum">
              <a:rPr lang="de-ES" smtClean="0"/>
              <a:t>1</a:t>
            </a:fld>
            <a:endParaRPr lang="de-ES"/>
          </a:p>
        </p:txBody>
      </p:sp>
    </p:spTree>
    <p:extLst>
      <p:ext uri="{BB962C8B-B14F-4D97-AF65-F5344CB8AC3E}">
        <p14:creationId xmlns:p14="http://schemas.microsoft.com/office/powerpoint/2010/main" val="230989044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4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602" userDrawn="1">
          <p15:clr>
            <a:srgbClr val="FBAE40"/>
          </p15:clr>
        </p15:guide>
        <p15:guide id="4" pos="6868" userDrawn="1">
          <p15:clr>
            <a:srgbClr val="FBAE40"/>
          </p15:clr>
        </p15:guide>
        <p15:guide id="5" orient="horz" pos="6987" userDrawn="1">
          <p15:clr>
            <a:srgbClr val="FBAE40"/>
          </p15:clr>
        </p15:guide>
        <p15:guide id="6" orient="horz" pos="14710" userDrawn="1">
          <p15:clr>
            <a:srgbClr val="FBAE40"/>
          </p15:clr>
        </p15:guide>
        <p15:guide id="8" orient="horz" pos="8607" userDrawn="1">
          <p15:clr>
            <a:srgbClr val="FBAE40"/>
          </p15:clr>
        </p15:guide>
        <p15:guide id="10" orient="horz" pos="23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124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580" userDrawn="1">
          <p15:clr>
            <a:srgbClr val="FBAE40"/>
          </p15:clr>
        </p15:guide>
        <p15:guide id="4" pos="8890" userDrawn="1">
          <p15:clr>
            <a:srgbClr val="FBAE40"/>
          </p15:clr>
        </p15:guide>
        <p15:guide id="5" orient="horz" pos="6987" userDrawn="1">
          <p15:clr>
            <a:srgbClr val="FBAE40"/>
          </p15:clr>
        </p15:guide>
        <p15:guide id="6" orient="horz" pos="14710" userDrawn="1">
          <p15:clr>
            <a:srgbClr val="FBAE40"/>
          </p15:clr>
        </p15:guide>
        <p15:guide id="8" orient="horz" pos="8118" userDrawn="1">
          <p15:clr>
            <a:srgbClr val="FBAE40"/>
          </p15:clr>
        </p15:guide>
        <p15:guide id="10" orient="horz" pos="237" userDrawn="1">
          <p15:clr>
            <a:srgbClr val="FBAE40"/>
          </p15:clr>
        </p15:guide>
        <p15:guide id="16" pos="4853" userDrawn="1">
          <p15:clr>
            <a:srgbClr val="FBAE40"/>
          </p15:clr>
        </p15:guide>
        <p15:guide id="17" pos="8617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339D31E-B214-FBE7-9F24-4AF3A3DD535C}"/>
              </a:ext>
            </a:extLst>
          </p:cNvPr>
          <p:cNvSpPr/>
          <p:nvPr userDrawn="1"/>
        </p:nvSpPr>
        <p:spPr>
          <a:xfrm>
            <a:off x="0" y="0"/>
            <a:ext cx="21383625" cy="7577138"/>
          </a:xfrm>
          <a:prstGeom prst="rect">
            <a:avLst/>
          </a:prstGeom>
          <a:solidFill>
            <a:srgbClr val="4DA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E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AB3794D-F3F1-6273-BCF2-560B30828F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400" y="1293813"/>
            <a:ext cx="2581132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9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16" userDrawn="1">
          <p15:clr>
            <a:srgbClr val="F26B43"/>
          </p15:clr>
        </p15:guide>
        <p15:guide id="2" pos="12654" userDrawn="1">
          <p15:clr>
            <a:srgbClr val="F26B43"/>
          </p15:clr>
        </p15:guide>
        <p15:guide id="3" orient="horz" pos="815" userDrawn="1">
          <p15:clr>
            <a:srgbClr val="F26B43"/>
          </p15:clr>
        </p15:guide>
        <p15:guide id="4" orient="horz" pos="1825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">
            <a:extLst>
              <a:ext uri="{FF2B5EF4-FFF2-40B4-BE49-F238E27FC236}">
                <a16:creationId xmlns:a16="http://schemas.microsoft.com/office/drawing/2014/main" id="{2D58A933-1368-BDA9-D738-82CD528BF0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400" y="11091864"/>
            <a:ext cx="9052560" cy="1790775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de-DE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So geht’s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 xml:space="preserve">1.  Mach Licht: halte deine Taschenlampe oder Hand über den Lichtsensor.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 xml:space="preserve">2.  Wähle dein Ziel: eine 0 oder eine 1.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 xml:space="preserve">3.  Spiele drei Runden – und versuche, das Ergebnis zu steuern.</a:t>
            </a:r>
          </a:p>
          <a:p>
            <a:pPr>
              <a:lnSpc>
                <a:spcPts val="1800"/>
              </a:lnSpc>
            </a:pPr>
            <a:endParaRPr lang="de-DE" sz="3600"/>
          </a:p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de-DE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Warum ist das spannend?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 xml:space="preserve">Aus Licht wird digitale Information – Nullen und Einsen.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 xml:space="preserve">Manche Dinge kann man steuern. Manche sind grundsätzlich nicht vorhersagbar.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 xml:space="preserve">Genau dieser Zufall ist wichtig für künstliche Intelligenz, Sicherheit im Internet und Quantentechnologie – die Technik der Zukunft.</a:t>
            </a:r>
          </a:p>
          <a:p>
            <a:pPr>
              <a:lnSpc>
                <a:spcPts val="1800"/>
              </a:lnSpc>
            </a:pPr>
            <a:endParaRPr lang="de-DE" sz="3600"/>
          </a:p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de-DE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Mehr zum Mitmachen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 xml:space="preserve">Probiere am Bildschirm auch unsere Quanten-Spiele aus, zum Beispiel Quanten-Tic-Tac-Toe.</a:t>
            </a:r>
          </a:p>
          <a:p>
            <a:pPr>
              <a:lnSpc>
                <a:spcPts val="1800"/>
              </a:lnSpc>
            </a:pPr>
            <a:endParaRPr lang="de-DE" sz="3600"/>
          </a:p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de-DE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Kontakt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 xml:space="preserve">Pavel Sulimov &amp; Claude Lehmann · Institut InIT · ZHAW School of Engineering</a:t>
            </a:r>
          </a:p>
        </p:txBody>
      </p:sp>
      <p:sp>
        <p:nvSpPr>
          <p:cNvPr id="17" name="Folientitel">
            <a:extLst>
              <a:ext uri="{FF2B5EF4-FFF2-40B4-BE49-F238E27FC236}">
                <a16:creationId xmlns:a16="http://schemas.microsoft.com/office/drawing/2014/main" id="{C427CC06-E3A4-93BE-4C3D-E04AE8C202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920418"/>
            <a:ext cx="2407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ES" sz="6000" dirty="0"/>
              <a:t>Folientitel: Hochformat Option 1</a:t>
            </a:r>
          </a:p>
        </p:txBody>
      </p:sp>
      <p:sp>
        <p:nvSpPr>
          <p:cNvPr id="9" name="Absender">
            <a:extLst>
              <a:ext uri="{FF2B5EF4-FFF2-40B4-BE49-F238E27FC236}">
                <a16:creationId xmlns:a16="http://schemas.microsoft.com/office/drawing/2014/main" id="{AC01F2C9-3397-A183-8F4D-624C00D6CD73}"/>
              </a:ext>
            </a:extLst>
          </p:cNvPr>
          <p:cNvSpPr txBox="1">
            <a:spLocks/>
          </p:cNvSpPr>
          <p:nvPr/>
        </p:nvSpPr>
        <p:spPr>
          <a:xfrm>
            <a:off x="15238499" y="1608398"/>
            <a:ext cx="4849726" cy="1823576"/>
          </a:xfrm>
          <a:prstGeom prst="rect">
            <a:avLst/>
          </a:prstGeom>
          <a:noFill/>
        </p:spPr>
        <p:txBody>
          <a:bodyPr wrap="none" numCol="1" spcCol="432000" rtlCol="0">
            <a:spAutoFit/>
          </a:bodyPr>
          <a:lstStyle/>
          <a:p>
            <a:pPr marL="14288">
              <a:lnSpc>
                <a:spcPts val="4500"/>
              </a:lnSpc>
            </a:pPr>
            <a:r>
              <a:rPr lang="en-US" sz="4000" b="1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</a:t>
            </a:r>
          </a:p>
          <a:p>
            <a:pPr marL="14288">
              <a:lnSpc>
                <a:spcPts val="4500"/>
              </a:lnSpc>
            </a:pPr>
            <a:r>
              <a:rPr lang="en-US" sz="4000" b="1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  <a:p>
            <a:pPr marL="14288">
              <a:lnSpc>
                <a:spcPts val="4500"/>
              </a:lnSpc>
            </a:pPr>
            <a:r>
              <a:rPr lang="en-US" sz="400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 für Informatik</a:t>
            </a:r>
            <a:endParaRPr lang="en-US" sz="4000" dirty="0">
              <a:solidFill>
                <a:srgbClr val="053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el">
            <a:extLst>
              <a:ext uri="{FF2B5EF4-FFF2-40B4-BE49-F238E27FC236}">
                <a16:creationId xmlns:a16="http://schemas.microsoft.com/office/drawing/2014/main" id="{E46BC8C7-0FA9-BBF3-4D8D-BB3880223D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295399" y="5246783"/>
            <a:ext cx="17322921" cy="4844216"/>
          </a:xfrm>
          <a:prstGeom prst="roundRect">
            <a:avLst>
              <a:gd name="adj" fmla="val 5729"/>
            </a:avLst>
          </a:prstGeom>
          <a:solidFill>
            <a:srgbClr val="05366C"/>
          </a:solidFill>
        </p:spPr>
        <p:txBody>
          <a:bodyPr vert="horz" wrap="none" lIns="360000" tIns="360000" rIns="360000" bIns="180000" rtlCol="0" anchor="ctr" anchorCtr="0">
            <a:spAutoFit/>
          </a:bodyPr>
          <a:lstStyle>
            <a:lvl1pPr algn="l" defTabSz="914400" rtl="0" eaLnBrk="1" latinLnBrk="0" hangingPunct="1">
              <a:lnSpc>
                <a:spcPct val="92000"/>
              </a:lnSpc>
              <a:spcBef>
                <a:spcPct val="0"/>
              </a:spcBef>
              <a:buNone/>
              <a:defRPr sz="5000" kern="1200">
                <a:solidFill>
                  <a:srgbClr val="0536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5400" b="0" i="0" u="none" strike="noStrike" kern="1200" cap="none" spc="0" normalizeH="0" baseline="0" noProof="0" dirty="0">
                <a:ln>
                  <a:noFill/>
                </a:ln>
                <a:solidFill>
                  <a:srgbClr val="4DA18E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Nacht der Technik 2026 · TechLab</a:t>
            </a:r>
            <a:br>
              <a:rPr kumimoji="0" lang="de-CH" sz="5000" b="0" i="0" u="none" strike="noStrike" kern="1200" cap="none" spc="0" normalizeH="0" baseline="0" noProof="0" dirty="0">
                <a:ln>
                  <a:noFill/>
                </a:ln>
                <a:solidFill>
                  <a:srgbClr val="4DA18E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</a:br>
            <a:r>
              <a:rPr kumimoji="0" lang="de-CH" sz="12000" b="0" i="0" u="none" strike="noStrike" kern="1200" cap="none" spc="0" normalizeH="0" baseline="0" noProof="0" dirty="0">
                <a:ln>
                  <a:noFill/>
                </a:ln>
                <a:solidFill>
                  <a:srgbClr val="4DA18E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Hack the Quantum</a:t>
            </a:r>
          </a:p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7200" dirty="0">
                <a:solidFill>
                  <a:srgbClr val="4DA18E"/>
                </a:solidFill>
                <a:latin typeface="Arial" panose="020B0604020202020204"/>
              </a:rPr>
              <a:t>Wie aus Licht ein Bit wird</a:t>
            </a:r>
            <a:r>
              <a:rPr kumimoji="0" lang="de-CH" sz="7200" b="0" i="0" u="none" strike="noStrike" kern="1200" cap="none" spc="0" normalizeH="0" baseline="0" noProof="0" dirty="0">
                <a:ln>
                  <a:noFill/>
                </a:ln>
                <a:solidFill>
                  <a:srgbClr val="4DA18E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/>
            </a:r>
          </a:p>
        </p:txBody>
      </p:sp>
      <p:grpSp>
        <p:nvGrpSpPr>
          <p:cNvPr id="8" name="Kreis mit QR-Code" descr="Kreis mit einem QR Code und dem Text „Mehr erfahren!“">
            <a:extLst>
              <a:ext uri="{FF2B5EF4-FFF2-40B4-BE49-F238E27FC236}">
                <a16:creationId xmlns:a16="http://schemas.microsoft.com/office/drawing/2014/main" id="{18FD1BFD-D9E1-9E6B-3FCE-D8CA30704C6D}"/>
              </a:ext>
            </a:extLst>
          </p:cNvPr>
          <p:cNvGrpSpPr/>
          <p:nvPr/>
        </p:nvGrpSpPr>
        <p:grpSpPr>
          <a:xfrm>
            <a:off x="14792292" y="22022813"/>
            <a:ext cx="3801708" cy="3879738"/>
            <a:chOff x="14792292" y="22480013"/>
            <a:chExt cx="3801708" cy="3879738"/>
          </a:xfrm>
        </p:grpSpPr>
        <p:sp>
          <p:nvSpPr>
            <p:cNvPr id="19" name="Kreis">
              <a:extLst>
                <a:ext uri="{FF2B5EF4-FFF2-40B4-BE49-F238E27FC236}">
                  <a16:creationId xmlns:a16="http://schemas.microsoft.com/office/drawing/2014/main" id="{D93DCC13-F65B-A35E-C39E-875277567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4792400" y="22558151"/>
              <a:ext cx="3801600" cy="3801600"/>
            </a:xfrm>
            <a:prstGeom prst="ellipse">
              <a:avLst/>
            </a:prstGeom>
            <a:solidFill>
              <a:srgbClr val="4DA1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ES">
                <a:ln>
                  <a:solidFill>
                    <a:srgbClr val="8FC45F"/>
                  </a:solidFill>
                </a:ln>
                <a:solidFill>
                  <a:srgbClr val="A3D045"/>
                </a:solidFill>
              </a:endParaRPr>
            </a:p>
          </p:txBody>
        </p:sp>
        <p:pic>
          <p:nvPicPr>
            <p:cNvPr id="12" name="Mehr erfahren!" descr="Mehr erfahren!">
              <a:extLst>
                <a:ext uri="{FF2B5EF4-FFF2-40B4-BE49-F238E27FC236}">
                  <a16:creationId xmlns:a16="http://schemas.microsoft.com/office/drawing/2014/main" id="{7DF056DB-EA44-3551-4504-B78726E41F79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4792292" y="22480013"/>
              <a:ext cx="3797300" cy="3797300"/>
            </a:xfrm>
            <a:prstGeom prst="rect">
              <a:avLst/>
            </a:prstGeom>
          </p:spPr>
        </p:pic>
        <p:pic>
          <p:nvPicPr>
            <p:cNvPr id="11" name="Platzhalter QR-Code" descr="QR Code">
              <a:extLst>
                <a:ext uri="{FF2B5EF4-FFF2-40B4-BE49-F238E27FC236}">
                  <a16:creationId xmlns:a16="http://schemas.microsoft.com/office/drawing/2014/main" id="{D84D71BB-BA10-0E5C-C620-0F993CC71886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5759642" y="23448947"/>
              <a:ext cx="1866900" cy="1790700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/>
        </p:nvSpPr>
        <p:spPr>
          <a:xfrm>
            <a:off x="10972800" y="11091672"/>
            <a:ext cx="8778240" cy="10972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>
              <a:lnSpc>
                <a:spcPts val="4600"/>
              </a:lnSpc>
            </a:pPr>
            <a:r>
              <a:rPr lang="de-DE" sz="44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Wer hat die Kontrolle?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12527280"/>
            <a:ext cx="8778240" cy="29718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>
              <a:lnSpc>
                <a:spcPts val="3600"/>
              </a:lnSpc>
              <a:spcAft>
                <a:spcPts val="400"/>
              </a:spcAft>
            </a:pPr>
            <a:r>
              <a:rPr lang="de-DE"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Runde 1 · Hell oder dunkel</a:t>
            </a:r>
          </a:p>
          <a:p>
            <a:pPr>
              <a:lnSpc>
                <a:spcPts val="2900"/>
              </a:lnSpc>
              <a:spcAft>
                <a:spcPts val="400"/>
              </a:spcAft>
            </a:pPr>
            <a:r>
              <a:rPr lang="de-DE" sz="2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Hell = 1, dunkel = 0. Ganz einfach – du gewinnst fast immer.</a:t>
            </a:r>
          </a:p>
          <a:p>
            <a:pPr>
              <a:lnSpc>
                <a:spcPts val="3000"/>
              </a:lnSpc>
            </a:pPr>
            <a:r>
              <a:rPr lang="de-DE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Kontrolle: hoch   </a:t>
            </a:r>
            <a:r>
              <a:rPr lang="de-DE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●●●●●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0" y="15819120"/>
            <a:ext cx="8778240" cy="2971800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>
              <a:lnSpc>
                <a:spcPts val="3600"/>
              </a:lnSpc>
              <a:spcAft>
                <a:spcPts val="400"/>
              </a:spcAft>
            </a:pPr>
            <a:r>
              <a:rPr lang="de-DE"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Runde 2 · Versteckte Regel</a:t>
            </a:r>
          </a:p>
          <a:p>
            <a:pPr>
              <a:lnSpc>
                <a:spcPts val="2900"/>
              </a:lnSpc>
              <a:spcAft>
                <a:spcPts val="400"/>
              </a:spcAft>
            </a:pPr>
            <a:r>
              <a:rPr lang="de-DE" sz="2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Nur ein winziges Detail zählt. Plötzlich klappt es nicht mehr so gut.</a:t>
            </a:r>
          </a:p>
          <a:p>
            <a:pPr>
              <a:lnSpc>
                <a:spcPts val="3000"/>
              </a:lnSpc>
            </a:pPr>
            <a:r>
              <a:rPr lang="de-DE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Kontrolle: mittel   </a:t>
            </a:r>
            <a:r>
              <a:rPr lang="de-DE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●●●○○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0" y="19110960"/>
            <a:ext cx="8778240" cy="2971800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>
              <a:lnSpc>
                <a:spcPts val="3600"/>
              </a:lnSpc>
              <a:spcAft>
                <a:spcPts val="400"/>
              </a:spcAft>
            </a:pPr>
            <a:r>
              <a:rPr lang="de-DE"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Runde 3 · Zufall</a:t>
            </a:r>
          </a:p>
          <a:p>
            <a:pPr>
              <a:lnSpc>
                <a:spcPts val="2900"/>
              </a:lnSpc>
              <a:spcAft>
                <a:spcPts val="400"/>
              </a:spcAft>
            </a:pPr>
            <a:r>
              <a:rPr lang="de-DE" sz="2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Die Maschine mischt winzige Schwankungen. Niemand kann das Ergebnis vorhersagen.</a:t>
            </a:r>
          </a:p>
          <a:p>
            <a:pPr>
              <a:lnSpc>
                <a:spcPts val="3000"/>
              </a:lnSpc>
            </a:pPr>
            <a:r>
              <a:rPr lang="de-DE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Kontrolle: keine   </a:t>
            </a:r>
            <a:r>
              <a:rPr lang="de-DE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895379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3" id="{6F6B8114-7D5C-4035-AFC8-D50BF15F22F9}" vid="{8AEF2355-9510-4D4A-893E-2724A56C95D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1244</Words>
  <Application>Microsoft Office PowerPoint</Application>
  <PresentationFormat>Benutzerdefiniert</PresentationFormat>
  <Paragraphs>69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Aptos</vt:lpstr>
      <vt:lpstr>Arial</vt:lpstr>
      <vt:lpstr>Office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Marsden Bernhard Frank (masb)</dc:creator>
  <cp:keywords/>
  <dc:description/>
  <cp:lastModifiedBy>Marsden Bernhard Frank (masb)</cp:lastModifiedBy>
  <cp:revision>1</cp:revision>
  <dcterms:created xsi:type="dcterms:W3CDTF">2026-06-02T13:53:19Z</dcterms:created>
  <dcterms:modified xsi:type="dcterms:W3CDTF">2026-06-02T13:54:18Z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2026-04-30T13:40:02Z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0bdbe453-518a-4480-b238-7aac6fa51f48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10, 3, 0, 1</vt:lpwstr>
  </property>
</Properties>
</file>