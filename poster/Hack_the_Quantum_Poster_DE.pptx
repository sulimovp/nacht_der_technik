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A18E"/>
    <a:srgbClr val="00795D"/>
    <a:srgbClr val="FFDC0C"/>
    <a:srgbClr val="A3D045"/>
    <a:srgbClr val="FFA70E"/>
    <a:srgbClr val="05366C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589"/>
  </p:normalViewPr>
  <p:slideViewPr>
    <p:cSldViewPr snapToGrid="0" showGuides="1">
      <p:cViewPr varScale="1">
        <p:scale>
          <a:sx n="23" d="100"/>
          <a:sy n="23" d="100"/>
        </p:scale>
        <p:origin x="321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06/02/2026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‹Nr.›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4DA1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Quantum Lab</a:t>
            </a:r>
            <a:endParaRPr lang="en-US" sz="40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3"/>
            <a:ext cx="17322921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4DA18E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Nacht der Technik 2026 · TechLab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4DA18E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4DA18E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Hack the Quantum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sz="7200" dirty="0">
                <a:solidFill>
                  <a:srgbClr val="4DA18E"/>
                </a:solidFill>
                <a:latin typeface="Arial" panose="020B0604020202020204"/>
              </a:rPr>
              <a:t>Wie aus Licht ein Bit wird</a:t>
            </a:r>
            <a:r>
              <a:rPr kumimoji="0" lang="de-CH" sz="7200" b="0" i="0" u="none" strike="noStrike" kern="1200" cap="none" spc="0" normalizeH="0" baseline="0" noProof="0" dirty="0">
                <a:ln>
                  <a:noFill/>
                </a:ln>
                <a:solidFill>
                  <a:srgbClr val="4DA18E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11018520"/>
            <a:ext cx="8778240" cy="7315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3700"/>
              </a:lnSpc>
            </a:pPr>
            <a:r>
              <a:rPr lang="de-DE" sz="3600" b="1" dirty="0">
                <a:solidFill>
                  <a:srgbClr val="05366C"/>
                </a:solidFill>
                <a:latin typeface="Arial"/>
                <a:cs typeface="Arial"/>
              </a:rPr>
              <a:t xml:space="preserve">So spielst du</a:t>
            </a:r>
          </a:p>
        </p:txBody>
      </p:sp>
      <p:sp>
        <p:nvSpPr>
          <p:cNvPr id="24" name="Oval 23"/>
          <p:cNvSpPr/>
          <p:nvPr/>
        </p:nvSpPr>
        <p:spPr>
          <a:xfrm>
            <a:off x="1417320" y="11722608"/>
            <a:ext cx="566928" cy="566928"/>
          </a:xfrm>
          <a:prstGeom prst="ellipse">
            <a:avLst/>
          </a:prstGeom>
          <a:solidFill>
            <a:srgbClr val="1F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ts val="2800"/>
              </a:lnSpc>
            </a:pPr>
            <a:r>
              <a:rPr lang="de-DE" sz="2800" b="1" dirty="0">
                <a:solidFill>
                  <a:srgbClr val="FFFFFF"/>
                </a:solidFill>
                <a:latin typeface="Arial"/>
                <a:cs typeface="Arial"/>
              </a:rPr>
              <a:t xml:space="preserve"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11686032"/>
            <a:ext cx="7498079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ts val="2900"/>
              </a:lnSpc>
            </a:pPr>
            <a:r>
              <a:rPr lang="de-DE" sz="2800" dirty="0">
                <a:solidFill>
                  <a:srgbClr val="222222"/>
                </a:solidFill>
                <a:latin typeface="Arial"/>
                <a:cs typeface="Arial"/>
              </a:rPr>
              <a:t xml:space="preserve">Scan den QR-Code mit dem Handy.</a:t>
            </a:r>
          </a:p>
        </p:txBody>
      </p:sp>
      <p:sp>
        <p:nvSpPr>
          <p:cNvPr id="26" name="Oval 25"/>
          <p:cNvSpPr/>
          <p:nvPr/>
        </p:nvSpPr>
        <p:spPr>
          <a:xfrm>
            <a:off x="1417320" y="12490704"/>
            <a:ext cx="566928" cy="566928"/>
          </a:xfrm>
          <a:prstGeom prst="ellipse">
            <a:avLst/>
          </a:prstGeom>
          <a:solidFill>
            <a:srgbClr val="C03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ts val="2800"/>
              </a:lnSpc>
            </a:pPr>
            <a:r>
              <a:rPr lang="de-DE" sz="2800" b="1" dirty="0">
                <a:solidFill>
                  <a:srgbClr val="FFFFFF"/>
                </a:solidFill>
                <a:latin typeface="Arial"/>
                <a:cs typeface="Arial"/>
              </a:rPr>
              <a:t xml:space="preserve"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12454128"/>
            <a:ext cx="7498079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ts val="2900"/>
              </a:lnSpc>
            </a:pPr>
            <a:r>
              <a:rPr lang="de-DE" sz="2800" dirty="0">
                <a:solidFill>
                  <a:srgbClr val="222222"/>
                </a:solidFill>
                <a:latin typeface="Arial"/>
                <a:cs typeface="Arial"/>
              </a:rPr>
              <a:t xml:space="preserve">Wähle ein Spiel und leg los.</a:t>
            </a:r>
          </a:p>
        </p:txBody>
      </p:sp>
      <p:sp>
        <p:nvSpPr>
          <p:cNvPr id="28" name="Oval 27"/>
          <p:cNvSpPr/>
          <p:nvPr/>
        </p:nvSpPr>
        <p:spPr>
          <a:xfrm>
            <a:off x="1417320" y="13258800"/>
            <a:ext cx="566928" cy="566928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ts val="2800"/>
              </a:lnSpc>
            </a:pPr>
            <a:r>
              <a:rPr lang="de-DE" sz="2800" b="1" dirty="0">
                <a:solidFill>
                  <a:srgbClr val="FFFFFF"/>
                </a:solidFill>
                <a:latin typeface="Arial"/>
                <a:cs typeface="Arial"/>
              </a:rPr>
              <a:t xml:space="preserve"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13222224"/>
            <a:ext cx="7498079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lnSpc>
                <a:spcPts val="2900"/>
              </a:lnSpc>
            </a:pPr>
            <a:r>
              <a:rPr lang="de-DE" sz="2800" dirty="0">
                <a:solidFill>
                  <a:srgbClr val="222222"/>
                </a:solidFill>
                <a:latin typeface="Arial"/>
                <a:cs typeface="Arial"/>
              </a:rPr>
              <a:t xml:space="preserve">Oder spiel am Bildschirm am Stand.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14127480"/>
            <a:ext cx="8778240" cy="7315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3700"/>
              </a:lnSpc>
            </a:pPr>
            <a:r>
              <a:rPr lang="de-DE" sz="3600" b="1" dirty="0">
                <a:solidFill>
                  <a:srgbClr val="05366C"/>
                </a:solidFill>
                <a:latin typeface="Arial"/>
                <a:cs typeface="Arial"/>
              </a:rPr>
              <a:t xml:space="preserve">Worum geht’s?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14740128"/>
            <a:ext cx="868680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2900"/>
              </a:lnSpc>
            </a:pPr>
            <a:r>
              <a:rPr lang="de-DE" sz="2800" dirty="0">
                <a:solidFill>
                  <a:srgbClr val="222222"/>
                </a:solidFill>
                <a:latin typeface="Arial"/>
                <a:cs typeface="Arial"/>
              </a:rPr>
              <a:t xml:space="preserve">Aus Licht wird ein Bit: 0 oder 1.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71600" y="15453359"/>
            <a:ext cx="8503920" cy="749808"/>
          </a:xfrm>
          <a:prstGeom prst="roundRect">
            <a:avLst/>
          </a:prstGeom>
          <a:solidFill>
            <a:srgbClr val="1F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182880" tIns="0" bIns="0"/>
          <a:lstStyle/>
          <a:p>
            <a:pPr algn="l">
              <a:lnSpc>
                <a:spcPts val="2700"/>
              </a:lnSpc>
            </a:pPr>
            <a:r>
              <a:rPr lang="de-DE" sz="2600" b="1" dirty="0">
                <a:solidFill>
                  <a:srgbClr val="FFFFFF"/>
                </a:solidFill>
                <a:latin typeface="Arial"/>
                <a:cs typeface="Arial"/>
              </a:rPr>
              <a:t xml:space="preserve">Du steuerst das Bit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71600" y="16322039"/>
            <a:ext cx="8503920" cy="749808"/>
          </a:xfrm>
          <a:prstGeom prst="round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182880" tIns="0" bIns="0"/>
          <a:lstStyle/>
          <a:p>
            <a:pPr algn="l">
              <a:lnSpc>
                <a:spcPts val="2700"/>
              </a:lnSpc>
            </a:pPr>
            <a:r>
              <a:rPr lang="de-DE" sz="2600" b="1" dirty="0">
                <a:solidFill>
                  <a:srgbClr val="2a1f00"/>
                </a:solidFill>
                <a:latin typeface="Arial"/>
                <a:cs typeface="Arial"/>
              </a:rPr>
              <a:t xml:space="preserve">Versteckte Regel – schwerer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7190719"/>
            <a:ext cx="8503920" cy="749808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182880" tIns="0" bIns="0"/>
          <a:lstStyle/>
          <a:p>
            <a:pPr algn="l">
              <a:lnSpc>
                <a:spcPts val="2700"/>
              </a:lnSpc>
            </a:pPr>
            <a:r>
              <a:rPr lang="de-DE" sz="2600" b="1" dirty="0">
                <a:solidFill>
                  <a:srgbClr val="FFFFFF"/>
                </a:solidFill>
                <a:latin typeface="Arial"/>
                <a:cs typeface="Arial"/>
              </a:rPr>
              <a:t xml:space="preserve">Reiner Zufall – unmöglich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18242280"/>
            <a:ext cx="8686800" cy="18288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3100"/>
              </a:lnSpc>
            </a:pPr>
            <a:r>
              <a:rPr lang="de-DE" sz="2800" dirty="0">
                <a:solidFill>
                  <a:srgbClr val="222222"/>
                </a:solidFill>
                <a:latin typeface="Arial"/>
                <a:cs typeface="Arial"/>
              </a:rPr>
              <a:t xml:space="preserve">Dieser Zufall ist wichtig für künstliche Intelligenz, Internet-Sicherheit und Quantentechnik – die Technik der Zukunft.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20299680"/>
            <a:ext cx="8778240" cy="7315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3700"/>
              </a:lnSpc>
            </a:pPr>
            <a:r>
              <a:rPr lang="de-DE" sz="3600" b="1" dirty="0">
                <a:solidFill>
                  <a:srgbClr val="05366C"/>
                </a:solidFill>
                <a:latin typeface="Arial"/>
                <a:cs typeface="Arial"/>
              </a:rPr>
              <a:t xml:space="preserve">Kontakt &amp; vernetzen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20894040"/>
            <a:ext cx="8686800" cy="9144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2900"/>
              </a:lnSpc>
            </a:pPr>
            <a:r>
              <a:rPr lang="de-DE" sz="2700" b="1" dirty="0">
                <a:solidFill>
                  <a:srgbClr val="222222"/>
                </a:solidFill>
                <a:latin typeface="Arial"/>
                <a:cs typeface="Arial"/>
              </a:rPr>
              <a:t xml:space="preserve">Pavel Sulimov &amp; Claude Lehmann</a:t>
            </a:r>
          </a:p>
          <a:p>
            <a:pPr algn="l">
              <a:lnSpc>
                <a:spcPts val="2500"/>
              </a:lnSpc>
            </a:pPr>
            <a:r>
              <a:rPr lang="de-DE" sz="2300" dirty="0">
                <a:solidFill>
                  <a:srgbClr val="555555"/>
                </a:solidFill>
                <a:latin typeface="Arial"/>
                <a:cs typeface="Arial"/>
              </a:rPr>
              <a:t xml:space="preserve">Quantum Lab · ZHAW School of Engineering</a:t>
            </a:r>
          </a:p>
        </p:txBody>
      </p:sp>
      <p:pic>
        <p:nvPicPr>
          <p:cNvPr id="38" name="Picture 37" descr="qr_pav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22128480"/>
            <a:ext cx="1554480" cy="1554480"/>
          </a:xfrm>
          <a:prstGeom prst="rect">
            <a:avLst/>
          </a:prstGeom>
        </p:spPr>
      </p:pic>
      <p:pic>
        <p:nvPicPr>
          <p:cNvPr id="39" name="Picture 38" descr="qr_clau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22128480"/>
            <a:ext cx="1554480" cy="15544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371600" y="23728680"/>
            <a:ext cx="18288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lnSpc>
                <a:spcPts val="2300"/>
              </a:lnSpc>
            </a:pPr>
            <a:r>
              <a:rPr lang="de-DE" sz="2200" b="1" dirty="0">
                <a:solidFill>
                  <a:srgbClr val="05366C"/>
                </a:solidFill>
                <a:latin typeface="Arial"/>
                <a:cs typeface="Arial"/>
              </a:rPr>
              <a:t xml:space="preserve">Pavel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23728680"/>
            <a:ext cx="182880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lnSpc>
                <a:spcPts val="2300"/>
              </a:lnSpc>
            </a:pPr>
            <a:r>
              <a:rPr lang="de-DE" sz="2200" b="1" dirty="0">
                <a:solidFill>
                  <a:srgbClr val="05366C"/>
                </a:solidFill>
                <a:latin typeface="Arial"/>
                <a:cs typeface="Arial"/>
              </a:rPr>
              <a:t xml:space="preserve">Claude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22448520"/>
            <a:ext cx="4572000" cy="10972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2600"/>
              </a:lnSpc>
            </a:pPr>
            <a:r>
              <a:rPr lang="de-DE" sz="2400" b="1" dirty="0">
                <a:solidFill>
                  <a:srgbClr val="2e6fb0"/>
                </a:solidFill>
                <a:latin typeface="Arial"/>
                <a:cs typeface="Arial"/>
              </a:rPr>
              <a:t xml:space="preserve">LinkedIn –</a:t>
            </a:r>
          </a:p>
          <a:p>
            <a:pPr algn="l">
              <a:lnSpc>
                <a:spcPts val="2400"/>
              </a:lnSpc>
            </a:pPr>
            <a:r>
              <a:rPr lang="de-DE" sz="2200" dirty="0">
                <a:solidFill>
                  <a:srgbClr val="555555"/>
                </a:solidFill>
                <a:latin typeface="Arial"/>
                <a:cs typeface="Arial"/>
              </a:rPr>
              <a:t xml:space="preserve">vernetze dich mit uns!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11338560"/>
            <a:ext cx="877824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4400"/>
              </a:lnSpc>
            </a:pPr>
            <a:r>
              <a:rPr lang="de-DE" sz="4200" b="1" dirty="0">
                <a:solidFill>
                  <a:srgbClr val="05366C"/>
                </a:solidFill>
                <a:latin typeface="Arial"/>
                <a:cs typeface="Arial"/>
              </a:rPr>
              <a:t xml:space="preserve">Unsere Spiele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2800" y="12344400"/>
            <a:ext cx="8778240" cy="1591056"/>
          </a:xfrm>
          <a:prstGeom prst="roundRect">
            <a:avLst/>
          </a:prstGeom>
          <a:solidFill>
            <a:srgbClr val="1F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200" rIns="182880" tIns="146304" bIns="146304"/>
          <a:lstStyle/>
          <a:p>
            <a:pPr algn="l">
              <a:lnSpc>
                <a:spcPts val="3200"/>
              </a:lnSpc>
              <a:spcAft>
                <a:spcPts val="150"/>
              </a:spcAft>
            </a:pPr>
            <a:r>
              <a:rPr lang="de-DE" sz="3000" b="1" dirty="0">
                <a:solidFill>
                  <a:srgbClr val="FFFFFF"/>
                </a:solidFill>
                <a:latin typeface="Arial"/>
                <a:cs typeface="Arial"/>
              </a:rPr>
              <a:t xml:space="preserve">Quanten-Elfmeter</a:t>
            </a:r>
          </a:p>
          <a:p>
            <a:pPr algn="l">
              <a:lnSpc>
                <a:spcPts val="2300"/>
              </a:lnSpc>
            </a:pPr>
            <a:r>
              <a:rPr lang="de-DE" sz="2000" dirty="0">
                <a:solidFill>
                  <a:srgbClr val="FFFFFF"/>
                </a:solidFill>
                <a:latin typeface="Arial"/>
                <a:cs typeface="Arial"/>
              </a:rPr>
              <a:t xml:space="preserve">Schiess am KI-Torhüter vorbei.</a:t>
            </a:r>
          </a:p>
        </p:txBody>
      </p:sp>
      <p:pic>
        <p:nvPicPr>
          <p:cNvPr id="45" name="Picture 44" descr="ic_footb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28832" y="12591288"/>
            <a:ext cx="1097280" cy="109728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10972800" y="14118336"/>
            <a:ext cx="8778240" cy="1591056"/>
          </a:xfrm>
          <a:prstGeom prst="roundRect">
            <a:avLst/>
          </a:prstGeom>
          <a:solidFill>
            <a:srgbClr val="C03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200" rIns="182880" tIns="146304" bIns="146304"/>
          <a:lstStyle/>
          <a:p>
            <a:pPr algn="l">
              <a:lnSpc>
                <a:spcPts val="3200"/>
              </a:lnSpc>
              <a:spcAft>
                <a:spcPts val="150"/>
              </a:spcAft>
            </a:pPr>
            <a:r>
              <a:rPr lang="de-DE" sz="3000" b="1" dirty="0">
                <a:solidFill>
                  <a:srgbClr val="FFFFFF"/>
                </a:solidFill>
                <a:latin typeface="Arial"/>
                <a:cs typeface="Arial"/>
              </a:rPr>
              <a:t xml:space="preserve">Schlag die KI</a:t>
            </a:r>
          </a:p>
          <a:p>
            <a:pPr algn="l">
              <a:lnSpc>
                <a:spcPts val="2300"/>
              </a:lnSpc>
            </a:pPr>
            <a:r>
              <a:rPr lang="de-DE" sz="2000" dirty="0">
                <a:solidFill>
                  <a:srgbClr val="FFFFFF"/>
                </a:solidFill>
                <a:latin typeface="Arial"/>
                <a:cs typeface="Arial"/>
              </a:rPr>
              <a:t xml:space="preserve">Sei zufälliger als eine KI.</a:t>
            </a:r>
          </a:p>
        </p:txBody>
      </p:sp>
      <p:pic>
        <p:nvPicPr>
          <p:cNvPr id="47" name="Picture 46" descr="ic_rob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28832" y="14365224"/>
            <a:ext cx="1097280" cy="1097280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10972800" y="15892272"/>
            <a:ext cx="8778240" cy="1591056"/>
          </a:xfrm>
          <a:prstGeom prst="round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200" rIns="182880" tIns="146304" bIns="146304"/>
          <a:lstStyle/>
          <a:p>
            <a:pPr algn="l">
              <a:lnSpc>
                <a:spcPts val="3200"/>
              </a:lnSpc>
              <a:spcAft>
                <a:spcPts val="150"/>
              </a:spcAft>
            </a:pPr>
            <a:r>
              <a:rPr lang="de-DE" sz="3000" b="1" dirty="0">
                <a:solidFill>
                  <a:srgbClr val="2a1f00"/>
                </a:solidFill>
                <a:latin typeface="Arial"/>
                <a:cs typeface="Arial"/>
              </a:rPr>
              <a:t xml:space="preserve">Hack the Light</a:t>
            </a:r>
          </a:p>
          <a:p>
            <a:pPr algn="l">
              <a:lnSpc>
                <a:spcPts val="2300"/>
              </a:lnSpc>
            </a:pPr>
            <a:r>
              <a:rPr lang="de-DE" sz="2000" dirty="0">
                <a:solidFill>
                  <a:srgbClr val="2a1f00"/>
                </a:solidFill>
                <a:latin typeface="Arial"/>
                <a:cs typeface="Arial"/>
              </a:rPr>
              <a:t xml:space="preserve">Mit der Kamera aus Licht ein Bit.</a:t>
            </a:r>
          </a:p>
        </p:txBody>
      </p:sp>
      <p:pic>
        <p:nvPicPr>
          <p:cNvPr id="49" name="Picture 48" descr="ic_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28832" y="16139159"/>
            <a:ext cx="1097280" cy="1097280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0972800" y="17666208"/>
            <a:ext cx="8778240" cy="1591056"/>
          </a:xfrm>
          <a:prstGeom prst="roundRect">
            <a:avLst/>
          </a:prstGeom>
          <a:solidFill>
            <a:srgbClr val="7D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200" rIns="182880" tIns="146304" bIns="146304"/>
          <a:lstStyle/>
          <a:p>
            <a:pPr algn="l">
              <a:lnSpc>
                <a:spcPts val="3200"/>
              </a:lnSpc>
              <a:spcAft>
                <a:spcPts val="150"/>
              </a:spcAft>
            </a:pPr>
            <a:r>
              <a:rPr lang="de-DE" sz="3000" b="1" dirty="0">
                <a:solidFill>
                  <a:srgbClr val="FFFFFF"/>
                </a:solidFill>
                <a:latin typeface="Arial"/>
                <a:cs typeface="Arial"/>
              </a:rPr>
              <a:t xml:space="preserve">Quanten-Schach</a:t>
            </a:r>
          </a:p>
          <a:p>
            <a:pPr algn="l">
              <a:lnSpc>
                <a:spcPts val="2300"/>
              </a:lnSpc>
            </a:pPr>
            <a:r>
              <a:rPr lang="de-DE" sz="2000" dirty="0">
                <a:solidFill>
                  <a:srgbClr val="FFFFFF"/>
                </a:solidFill>
                <a:latin typeface="Arial"/>
                <a:cs typeface="Arial"/>
              </a:rPr>
              <a:t xml:space="preserve">Figuren an zwei Orten gleichzeitig.</a:t>
            </a:r>
          </a:p>
        </p:txBody>
      </p:sp>
      <p:pic>
        <p:nvPicPr>
          <p:cNvPr id="51" name="Picture 50" descr="ic_che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28832" y="17913096"/>
            <a:ext cx="1097280" cy="1097280"/>
          </a:xfrm>
          <a:prstGeom prst="rect">
            <a:avLst/>
          </a:prstGeom>
        </p:spPr>
      </p:pic>
      <p:sp>
        <p:nvSpPr>
          <p:cNvPr id="52" name="Rounded Rectangle 51"/>
          <p:cNvSpPr/>
          <p:nvPr/>
        </p:nvSpPr>
        <p:spPr>
          <a:xfrm>
            <a:off x="10972800" y="19440144"/>
            <a:ext cx="8778240" cy="1591056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200" rIns="182880" tIns="146304" bIns="146304"/>
          <a:lstStyle/>
          <a:p>
            <a:pPr algn="l">
              <a:lnSpc>
                <a:spcPts val="3200"/>
              </a:lnSpc>
              <a:spcAft>
                <a:spcPts val="150"/>
              </a:spcAft>
            </a:pPr>
            <a:r>
              <a:rPr lang="de-DE" sz="3000" b="1" dirty="0">
                <a:solidFill>
                  <a:srgbClr val="FFFFFF"/>
                </a:solidFill>
                <a:latin typeface="Arial"/>
                <a:cs typeface="Arial"/>
              </a:rPr>
              <a:t xml:space="preserve">Quanten-Tic-Tac-Toe</a:t>
            </a:r>
          </a:p>
          <a:p>
            <a:pPr algn="l">
              <a:lnSpc>
                <a:spcPts val="2300"/>
              </a:lnSpc>
            </a:pPr>
            <a:r>
              <a:rPr lang="de-DE" sz="2000" dirty="0">
                <a:solidFill>
                  <a:srgbClr val="FFFFFF"/>
                </a:solidFill>
                <a:latin typeface="Arial"/>
                <a:cs typeface="Arial"/>
              </a:rPr>
              <a:t xml:space="preserve">Drei gewinnt – mit Überlagerung.</a:t>
            </a:r>
          </a:p>
        </p:txBody>
      </p:sp>
      <p:pic>
        <p:nvPicPr>
          <p:cNvPr id="53" name="Picture 52" descr="ic_tt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28832" y="19687032"/>
            <a:ext cx="1097280" cy="1097280"/>
          </a:xfrm>
          <a:prstGeom prst="rect">
            <a:avLst/>
          </a:prstGeom>
        </p:spPr>
      </p:pic>
      <p:pic>
        <p:nvPicPr>
          <p:cNvPr id="54" name="Picture 53" descr="q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670280" y="21396960"/>
            <a:ext cx="3383280" cy="338328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972800" y="24963120"/>
            <a:ext cx="8778240" cy="10972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lnSpc>
                <a:spcPts val="3000"/>
              </a:lnSpc>
            </a:pPr>
            <a:r>
              <a:rPr lang="de-DE" sz="2800" b="1" dirty="0">
                <a:solidFill>
                  <a:srgbClr val="05366C"/>
                </a:solidFill>
                <a:latin typeface="Arial"/>
                <a:cs typeface="Arial"/>
              </a:rPr>
              <a:t xml:space="preserve">Scan &amp; spiel am Handy!</a:t>
            </a:r>
          </a:p>
          <a:p>
            <a:pPr algn="ctr">
              <a:lnSpc>
                <a:spcPts val="2500"/>
              </a:lnSpc>
            </a:pPr>
            <a:r>
              <a:rPr lang="de-DE" sz="2300" dirty="0">
                <a:solidFill>
                  <a:srgbClr val="2e6fb0"/>
                </a:solidFill>
                <a:latin typeface="Arial"/>
                <a:cs typeface="Arial"/>
              </a:rPr>
              <a:t xml:space="preserve">arraxis.com/nachtdertechnik</a:t>
            </a:r>
          </a:p>
        </p:txBody>
      </p:sp>
      <p:pic>
        <p:nvPicPr>
          <p:cNvPr id="56" name="Picture 55" descr="q_emc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3460" y="26289000"/>
            <a:ext cx="4023360" cy="1280160"/>
          </a:xfrm>
          <a:prstGeom prst="rect">
            <a:avLst/>
          </a:prstGeom>
        </p:spPr>
      </p:pic>
      <p:pic>
        <p:nvPicPr>
          <p:cNvPr id="57" name="Picture 56" descr="q_atom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49740" y="26014680"/>
            <a:ext cx="1828800" cy="1828800"/>
          </a:xfrm>
          <a:prstGeom prst="rect">
            <a:avLst/>
          </a:prstGeom>
        </p:spPr>
      </p:pic>
      <p:pic>
        <p:nvPicPr>
          <p:cNvPr id="58" name="Picture 57" descr="q_bloch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681460" y="26014680"/>
            <a:ext cx="1828800" cy="1828800"/>
          </a:xfrm>
          <a:prstGeom prst="rect">
            <a:avLst/>
          </a:prstGeom>
        </p:spPr>
      </p:pic>
      <p:pic>
        <p:nvPicPr>
          <p:cNvPr id="59" name="Picture 58" descr="q_wav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013180" y="26417016"/>
            <a:ext cx="2560320" cy="1024128"/>
          </a:xfrm>
          <a:prstGeom prst="rect">
            <a:avLst/>
          </a:prstGeom>
        </p:spPr>
      </p:pic>
      <p:pic>
        <p:nvPicPr>
          <p:cNvPr id="60" name="Picture 59" descr="wordmark_header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94560" y="28529280"/>
            <a:ext cx="6035040" cy="945490"/>
          </a:xfrm>
          <a:prstGeom prst="rect">
            <a:avLst/>
          </a:prstGeom>
        </p:spPr>
      </p:pic>
      <p:pic>
        <p:nvPicPr>
          <p:cNvPr id="61" name="Picture 60" descr="quantum_lab_logo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972800" y="28072080"/>
            <a:ext cx="1554480" cy="155448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618720" y="28346400"/>
            <a:ext cx="6858000" cy="10058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lnSpc>
                <a:spcPts val="3100"/>
              </a:lnSpc>
            </a:pPr>
            <a:r>
              <a:rPr lang="de-DE" sz="3000" b="1" dirty="0">
                <a:solidFill>
                  <a:srgbClr val="05366C"/>
                </a:solidFill>
                <a:latin typeface="Arial"/>
                <a:cs typeface="Arial"/>
              </a:rPr>
              <a:t xml:space="preserve">Quantum Lab</a:t>
            </a:r>
          </a:p>
          <a:p>
            <a:pPr algn="l">
              <a:lnSpc>
                <a:spcPts val="2100"/>
              </a:lnSpc>
            </a:pPr>
            <a:r>
              <a:rPr lang="de-DE" sz="2000" dirty="0">
                <a:solidFill>
                  <a:srgbClr val="555555"/>
                </a:solidFill>
                <a:latin typeface="Arial"/>
                <a:cs typeface="Arial"/>
              </a:rPr>
              <a:t xml:space="preserve">ZHAW School of Engineering</a:t>
            </a:r>
          </a:p>
        </p:txBody>
      </p:sp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3" id="{6F6B8114-7D5C-4035-AFC8-D50BF15F22F9}" vid="{8AEF2355-9510-4D4A-893E-2724A56C95D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1244</Words>
  <Application>Microsoft Office PowerPoint</Application>
  <PresentationFormat>Benutzerdefiniert</PresentationFormat>
  <Paragraphs>69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6" baseType="lpstr">
      <vt:lpstr>Aptos</vt:lpstr>
      <vt:lpstr>Arial</vt:lpstr>
      <vt:lpstr>Office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Marsden Bernhard Frank (masb)</dc:creator>
  <cp:keywords/>
  <dc:description/>
  <cp:lastModifiedBy>Marsden Bernhard Frank (masb)</cp:lastModifiedBy>
  <cp:revision>1</cp:revision>
  <dcterms:created xsi:type="dcterms:W3CDTF">2026-06-02T13:53:19Z</dcterms:created>
  <dcterms:modified xsi:type="dcterms:W3CDTF">2026-06-02T13:54:18Z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